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AI HACKATHON · AI TRACK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F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crime-scene evidence triage &amp; FSL scheduling — an MCP server that IBM Bob drives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free-text seizure list to a ranked, flagged, sequenced and scheduled forensic-lab submission — with a tamper-evident chain of custody.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Pramaan</a:t>
            </a:r>
            <a:endParaRPr lang="en-US" sz="1400" dirty="0"/>
          </a:p>
        </p:txBody>
      </p:sp>
      <p:pic>
        <p:nvPicPr>
          <p:cNvPr id="7" name="Image 0" descr="/tmp/slideimg/01-evidence-que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325880"/>
            <a:ext cx="5577840" cy="34861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1325880"/>
            <a:ext cx="5577840" cy="3486150"/>
          </a:xfrm>
          <a:prstGeom prst="rect">
            <a:avLst/>
          </a:prstGeom>
          <a:ln w="9525">
            <a:solidFill>
              <a:srgbClr val="CFC8B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Decisive evidence waits in a first-come, first-served queue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78308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exhibits seized in the 2019 Hyderabad case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4992" y="1600200"/>
            <a:ext cx="2606040" cy="178308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7872" y="17830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47872" y="2606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photographs to review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1344" y="1600200"/>
            <a:ext cx="2606040" cy="178308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830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64224" y="2606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FSL testing delay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97696" y="1600200"/>
            <a:ext cx="2606040" cy="178308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0576" y="17830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90 days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80576" y="2606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clock, BNSS §187(3)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11064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DNA-bearing cigarette butt that helped link the accused was nearly lost among roadside litter.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BNSS 2023 §176(3) now mandates forensic scene visits for offences punishable with 7+ years — more scenes, same laboratories.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 letters list exhibits in seizure order: no signal of what is decisive, perishable or deadline-bound.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decide what to seize, preserve and send within hours — without structured, defensible guidance.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evidence triage is hard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420624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2606040" cy="82296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202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Needles in volume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278892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exhibits are near-identical litter; a handful decide the case — and they look alike on a list.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64992" y="1645920"/>
            <a:ext cx="2606040" cy="420624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4992" y="1645920"/>
            <a:ext cx="2606040" cy="82296"/>
          </a:xfrm>
          <a:prstGeom prst="rect">
            <a:avLst/>
          </a:prstGeom>
          <a:solidFill>
            <a:srgbClr val="B86E00"/>
          </a:solidFill>
          <a:ln w="12700">
            <a:solidFill>
              <a:srgbClr val="B86E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9202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Perishability varies 1000×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66160" y="278892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swab: a day. Viscera at room temperature: two. CCTV: overwritten in days. A knife: years.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81344" y="1645920"/>
            <a:ext cx="2606040" cy="420624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1344" y="1645920"/>
            <a:ext cx="2606040" cy="82296"/>
          </a:xfrm>
          <a:prstGeom prst="rect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9202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Examinations interfere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82512" y="278892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Powdering for prints can destroy touch DNA; destructive tests must come last.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97696" y="1645920"/>
            <a:ext cx="2606040" cy="420624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97696" y="1645920"/>
            <a:ext cx="2606040" cy="82296"/>
          </a:xfrm>
          <a:prstGeom prst="rect">
            <a:avLst/>
          </a:prstGeom>
          <a:solidFill>
            <a:srgbClr val="B8893F"/>
          </a:solidFill>
          <a:ln w="12700">
            <a:solidFill>
              <a:srgbClr val="B889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8864" y="19202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hold up in court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198864" y="278892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scores are unusable. Every decision must be explainable, reproducible and logged — without personal data.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Pramaan works — one deterministic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298448" cy="73152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29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2984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list → exhibits, quantities, distances, conditions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47672" y="1737360"/>
            <a:ext cx="1298448" cy="73152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47672" y="1737360"/>
            <a:ext cx="129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47672" y="2606040"/>
            <a:ext cx="12984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evidence types, modifiers, context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46704" y="1737360"/>
            <a:ext cx="1298448" cy="73152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1737360"/>
            <a:ext cx="129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46704" y="2606040"/>
            <a:ext cx="12984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half-life by storage; field windows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45736" y="1737360"/>
            <a:ext cx="1298448" cy="73152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1737360"/>
            <a:ext cx="129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45736" y="2606040"/>
            <a:ext cx="12984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Evidentiary Priority Index 0–100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44768" y="1737360"/>
            <a:ext cx="1298448" cy="731520"/>
          </a:xfrm>
          <a:prstGeom prst="rect">
            <a:avLst/>
          </a:prstGeom>
          <a:solidFill>
            <a:srgbClr val="1F6F78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737360"/>
            <a:ext cx="129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44768" y="2606040"/>
            <a:ext cx="12984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NOW: collect, seal, refrigerate, seize DVR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43800" y="1737360"/>
            <a:ext cx="1298448" cy="731520"/>
          </a:xfrm>
          <a:prstGeom prst="rect">
            <a:avLst/>
          </a:prstGeom>
          <a:solidFill>
            <a:srgbClr val="1F6F78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1737360"/>
            <a:ext cx="129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43800" y="2606040"/>
            <a:ext cx="12984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least-destructive-first exam DAG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42832" y="1737360"/>
            <a:ext cx="1298448" cy="731520"/>
          </a:xfrm>
          <a:prstGeom prst="rect">
            <a:avLst/>
          </a:prstGeom>
          <a:solidFill>
            <a:srgbClr val="1F6F78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42832" y="1737360"/>
            <a:ext cx="129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42832" y="2606040"/>
            <a:ext cx="12984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first-round batch; near-body never held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341864" y="1737360"/>
            <a:ext cx="1298448" cy="731520"/>
          </a:xfrm>
          <a:prstGeom prst="rect">
            <a:avLst/>
          </a:prstGeom>
          <a:solidFill>
            <a:srgbClr val="1F6F78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41864" y="1737360"/>
            <a:ext cx="129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341864" y="2606040"/>
            <a:ext cx="12984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FSL plan vs FIFO &amp; status quo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160520"/>
            <a:ext cx="11064240" cy="205740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2976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 </a:t>
            </a:r>
            <a:pPr indent="0" marL="0">
              <a:buNone/>
            </a:pPr>
            <a:r>
              <a:rPr lang="en-US" sz="16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queue with reasons · gap analysis (missing reference samples, CCTV canvass, photo coverage) · FSL submission packet (PDF) · SHA-256 hash-chained custody ledger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 </a:t>
            </a:r>
            <a:pPr indent="0" marL="0">
              <a:buNone/>
            </a:pPr>
            <a:r>
              <a:rPr lang="en-US" sz="16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via the MCP server (21 tools) · web dashboard + REST API · CLI — all sharing one live database. Optional watsonx.ai Granite may parse prose and pick a type from a closed vocabulary; it never scores.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EVIDENTIARY PRIORITY INDEX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priority is explainable, factor by factor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1005840"/>
          </a:xfrm>
          <a:prstGeom prst="rect">
            <a:avLst/>
          </a:prstGeom>
          <a:solidFill>
            <a:srgbClr val="16181D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 = 100 × ( wₚ·P + wᵤ·U + wᵣ·R 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probative — crime-type relevance × individualizing potential × linkage (distance to body, recovered from accused)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 urgency — hours until quality or the collection window is lost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irreplaceability — can it ever be re-collected?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per crime type; BNSS §184 samples floored at 85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exhibit carries its caveat (what it does NOT prove) and what to corroborate it with</a:t>
            </a:r>
            <a:endParaRPr lang="en-US" sz="1500" dirty="0"/>
          </a:p>
        </p:txBody>
      </p:sp>
      <p:pic>
        <p:nvPicPr>
          <p:cNvPr id="7" name="Image 0" descr="/tmp/slideimg/02-exhibit-explan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554480"/>
            <a:ext cx="5669280" cy="35433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89320" y="1554480"/>
            <a:ext cx="5669280" cy="3543300"/>
          </a:xfrm>
          <a:prstGeom prst="rect">
            <a:avLst/>
          </a:prstGeom>
          <a:ln w="9525">
            <a:solidFill>
              <a:srgbClr val="CFC8B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PRESERVATION &amp; COLLECTION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now: degradation-aware urgency</a:t>
            </a:r>
            <a:endParaRPr lang="en-US" sz="3000" dirty="0"/>
          </a:p>
        </p:txBody>
      </p:sp>
      <p:pic>
        <p:nvPicPr>
          <p:cNvPr id="4" name="Image 0" descr="/tmp/slideimg/01-evidence-que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400800" cy="4000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6400800" cy="4000500"/>
          </a:xfrm>
          <a:prstGeom prst="rect">
            <a:avLst/>
          </a:prstGeom>
          <a:ln w="9525">
            <a:solidFill>
              <a:srgbClr val="CFC8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23760" y="1645920"/>
            <a:ext cx="4480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Viscera at room temperature: usable ~42 h — refrigerated ~17 days (quantified what-if)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DVR not seized: overwrite risk → seize or export with hash today (BSA §63)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and footwear impressions: rain shrinks the window six-fold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accelerants: seal in an airtight can, not paper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Examinations sequenced so touch-DNA swabbing precedes powdering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FSL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testing + a scheduler that is measured, not claimed</a:t>
            </a:r>
            <a:endParaRPr lang="en-US" sz="3000" dirty="0"/>
          </a:p>
        </p:txBody>
      </p:sp>
      <p:pic>
        <p:nvPicPr>
          <p:cNvPr id="4" name="Image 0" descr="/tmp/slideimg/gantt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583680" cy="33200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6640" y="1645920"/>
            <a:ext cx="4297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near-identical exhibits? The 3 most promising go first; the rest are held for stage 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trumps volume — traces within 10 m of the body are never held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Job-shop simulation across divisions and examiners; Apparent-Tardiness-Cost portfolio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due dates and the BNSS §187(3) report deadline drive the order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shown beside status quo, FIFO and static-sort baselines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Hyderabad-scale benchmark: 200 exhibits, 5 hidden needles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237744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85.5%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evidential value retained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64992" y="1645920"/>
            <a:ext cx="2606040" cy="237744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8288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47872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47872" y="3108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exhibits analysed late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1344" y="1645920"/>
            <a:ext cx="2606040" cy="237744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18288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d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364224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29.3 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64224" y="3108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results (working days)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97696" y="1645920"/>
            <a:ext cx="2606040" cy="237744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0576" y="18288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180576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80576" y="3108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as P1 (worst rank 36/200)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every exhibit examined in listing order (status quo). Staging removes 124 duplicates from the first queue; ordering speeds up P1 results.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Needles: the half-burnt butt 3 m from the body, viscera at ambient, uncollected toll-plaza CCTV, fingernail scrapings, reference blood.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caveats: synthetic data and heuristic half-lives/capacities — reproducible with `python -m pramaan benchmark`; 46 automated tests in CI.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FSL SCALABILITY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from one lab to the state's forensic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10312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487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exhibits from 10 cases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triaged in 4.51 s (443/s), one laptop core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64992" y="1600200"/>
            <a:ext cx="2606040" cy="210312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737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38.39 d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47872" y="2487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84.85 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47872" y="28346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results: network plan vs everything to State FSL HQ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81344" y="1600200"/>
            <a:ext cx="2606040" cy="210312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1737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312.0 d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64224" y="2487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492.0 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4224" y="28346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clears across 788 stage-1 exhibits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97696" y="1600200"/>
            <a:ext cx="2606040" cy="210312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0576" y="1737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180576" y="2487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time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80576" y="28346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timelines: O(J·U·ops·log E)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3931920"/>
            <a:ext cx="5852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FSL HQ + Regional FSLs + CFSL referral (P1/P2 only) planned as ONE resource pool (laboratory.yaml → network:)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exhibit goes to the unit where it completes earliest, including transport; all its exams stay on one object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what-if per division (+N DNA examiners) for recruitment and budget requests; bottleneck shown per unit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queue across all open cases: a perishable exhibit from today overtakes a stable one from last week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API, stdio or HTTP MCP, Docker, no CDN — runs in air-gapped district labs</a:t>
            </a:r>
            <a:endParaRPr lang="en-US" sz="1350" dirty="0"/>
          </a:p>
        </p:txBody>
      </p:sp>
      <p:pic>
        <p:nvPicPr>
          <p:cNvPr id="21" name="Image 0" descr="/tmp/slideimg/14-fsl-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3931920"/>
            <a:ext cx="4123944" cy="2577465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629400" y="3931920"/>
            <a:ext cx="4123944" cy="2577465"/>
          </a:xfrm>
          <a:prstGeom prst="rect">
            <a:avLst/>
          </a:prstGeom>
          <a:ln w="9525">
            <a:solidFill>
              <a:srgbClr val="CFC8B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is the officer's agent — the engine stays in charge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108960" cy="731520"/>
          </a:xfrm>
          <a:prstGeom prst="rect">
            <a:avLst/>
          </a:prstGeom>
          <a:solidFill>
            <a:srgbClr val="6B6557"/>
          </a:solidFill>
          <a:ln w="12700">
            <a:solidFill>
              <a:srgbClr val="6B65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3108960" cy="73152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3288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agent loop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· skills · modes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65576"/>
            <a:ext cx="3108960" cy="731520"/>
          </a:xfrm>
          <a:prstGeom prst="rect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65576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Pramaan MCP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tools · /mcp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98264"/>
            <a:ext cx="3108960" cy="731520"/>
          </a:xfrm>
          <a:prstGeom prst="rect">
            <a:avLst/>
          </a:prstGeom>
          <a:solidFill>
            <a:srgbClr val="B8893F"/>
          </a:solidFill>
          <a:ln w="12700">
            <a:solidFill>
              <a:srgbClr val="B88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39826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+ KB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ledger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330952"/>
            <a:ext cx="3108960" cy="731520"/>
          </a:xfrm>
          <a:prstGeom prst="rect">
            <a:avLst/>
          </a:prstGeom>
          <a:solidFill>
            <a:srgbClr val="B86E00"/>
          </a:solidFill>
          <a:ln w="12700">
            <a:solidFill>
              <a:srgbClr val="B86E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33095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state.json · audit.jsonl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report.html · graph.html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1600200"/>
            <a:ext cx="3840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— the agent protocol (IBM Bob's counterpart of SAVVYDFIR's CLAUDE.md)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skills in .bob/skills/ — 7-phase evidence-triage-workflow, classification, preservation &amp; custody, FSL scheduling, court-ready outputs, BSA authenticity, tools reference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custom modes — 🔬 Forensic Triage (edits only case-notes/), 🧪 FSL Liaison, ⚖️ Court Reviewer, 🛡️ Legal Cell (BSA); rules + slash commands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lifecycle hooks — briefing, privacy block, evidence-store write guard, MCP audit, Stop completion gate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.bob/mcp.json → Pramaan MCP; Bob never invents a score</a:t>
            </a:r>
            <a:endParaRPr lang="en-US" sz="1300" dirty="0"/>
          </a:p>
        </p:txBody>
      </p:sp>
      <p:pic>
        <p:nvPicPr>
          <p:cNvPr id="15" name="Image 0" descr="/tmp/slideimg/09-mcp-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645920"/>
            <a:ext cx="3703320" cy="2314575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001000" y="1645920"/>
            <a:ext cx="3703320" cy="2314575"/>
          </a:xfrm>
          <a:prstGeom prst="rect">
            <a:avLst/>
          </a:prstGeom>
          <a:ln w="9525">
            <a:solidFill>
              <a:srgbClr val="CFC8B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BHARATIYA SAKSHYA ADHINIYAM, 2023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enforcement: is the evidence authentic, reliable and provable?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417320" cy="51206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 s.61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057400" y="1554480"/>
            <a:ext cx="4114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records recognised; not refused merely for being electronic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57984"/>
            <a:ext cx="1417320" cy="51206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57984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 s.62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057400" y="2157984"/>
            <a:ext cx="4114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proved under s.63 — route: original device vs computer output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1417320" cy="51206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61488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 s.63(2)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057400" y="2761488"/>
            <a:ext cx="4114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regular use · (b) ordinary course · (c) proper operation · (d) derived output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64992"/>
            <a:ext cx="1417320" cy="51206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6499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 s.63(4)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057400" y="3364992"/>
            <a:ext cx="4114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certificate: Part A (person in charge) + Part B (expert) with hash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68496"/>
            <a:ext cx="1417320" cy="51206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68496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057400" y="3968496"/>
            <a:ext cx="4114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FSL re-hash must equal seizure hash — mismatch = AT RISK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417320" cy="512064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72000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BNSS s.105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057400" y="4572000"/>
            <a:ext cx="4114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seizure recorded on video; custody seals at every hand-over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25780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· CURABLE GAPS · AT RISK per exhibit, remedies by role (IO, device in-charge, FSL expert, legal cell), authenticity report PDF, pre-filled s.63(4) certificate drafts. Legal flags never change forensic priority; the court decides admissibility.</a:t>
            </a:r>
            <a:endParaRPr lang="en-US" sz="1300" dirty="0"/>
          </a:p>
        </p:txBody>
      </p:sp>
      <p:pic>
        <p:nvPicPr>
          <p:cNvPr id="23" name="Image 0" descr="/tmp/slideimg/13-bsa-authentic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554480"/>
            <a:ext cx="5257800" cy="3286125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446520" y="1554480"/>
            <a:ext cx="5257800" cy="3286125"/>
          </a:xfrm>
          <a:prstGeom prst="rect">
            <a:avLst/>
          </a:prstGeom>
          <a:ln w="9525">
            <a:solidFill>
              <a:srgbClr val="CFC8B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Integrity, privacy and the law — enforced in code</a:t>
            </a:r>
            <a:endParaRPr lang="en-US" sz="3000" dirty="0"/>
          </a:p>
        </p:txBody>
      </p:sp>
      <p:pic>
        <p:nvPicPr>
          <p:cNvPr id="4" name="Image 0" descr="/tmp/slideimg/05-custody-led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309360" cy="39433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6309360" cy="3943350"/>
          </a:xfrm>
          <a:prstGeom prst="rect">
            <a:avLst/>
          </a:prstGeom>
          <a:ln w="9525">
            <a:solidFill>
              <a:srgbClr val="CFC8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0" y="164592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hash-chained ledger: edit one row and verification pinpoints 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Knowledge-base hash + result hash on every run and every packet page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gate on every surface: Aadhaar, phone, e-mail, hashed protected names (BNS §72, DPDP Act)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overrides need a reason and are logged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engine: same input + same KB = same ranking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JUDGES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in the code — evaluation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75488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440680" cy="82296"/>
          </a:xfrm>
          <a:prstGeom prst="rect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 quality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scoring.py — explainable EPI, per-factor points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degradation.py · sequencing.py (Kahn DAG)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scheduler.py — FIFO/static/ATC portfolio with baselines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network.py — heap timelines, capacity what-if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bsa.py — BSA ss.61-63 checks, Schedule certificate PDF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store.py — SHA-256 hash-chained ledger; privacy.py gate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mcp_server.py — 21 typed tools; api.py; cli.py; web/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tests + CI; .bob contract tests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440680" cy="4754880"/>
          </a:xfrm>
          <a:prstGeom prst="rect">
            <a:avLst/>
          </a:prstGeom>
          <a:solidFill>
            <a:srgbClr val="FFFDF8"/>
          </a:solidFill>
          <a:ln w="12700">
            <a:solidFill>
              <a:srgbClr val="E0D8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554480"/>
            <a:ext cx="5440680" cy="82296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differentiation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testing with a ≤10 m proximity exemption (Hyderabad butt stays in batch 1)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= hours to evidential-quality loss; preservation what-ifs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Custody-deadline (BNSS s.187(3)) aware scheduling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readiness decoupled from forensic priority (tested)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drafted from structured facts + hash verification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scale-out: earliest completion incl. transport; CFSL for P1/P2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proposes, rules dispose (proved by test)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guard-rails as code: hooks + completion gate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map with file paths: docs/judging-criteria.md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to a State FSL 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60320" cy="3017520"/>
          </a:xfrm>
          <a:prstGeom prst="rect">
            <a:avLst/>
          </a:prstGeom>
          <a:solidFill>
            <a:srgbClr val="22262E"/>
          </a:solidFill>
          <a:ln w="12700">
            <a:solidFill>
              <a:srgbClr val="3A3E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Half-lives, exam hours and examiner counts with a partner FSL; the KB hash versions every change.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1920240"/>
            <a:ext cx="2560320" cy="3017520"/>
          </a:xfrm>
          <a:prstGeom prst="rect">
            <a:avLst/>
          </a:prstGeom>
          <a:solidFill>
            <a:srgbClr val="22262E"/>
          </a:solidFill>
          <a:ln w="12700">
            <a:solidFill>
              <a:srgbClr val="3A3E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photos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11880" y="26974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 vision to flag exhibits visible in scene photos but missing from the list.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560320" cy="3017520"/>
          </a:xfrm>
          <a:prstGeom prst="rect">
            <a:avLst/>
          </a:prstGeom>
          <a:solidFill>
            <a:srgbClr val="22262E"/>
          </a:solidFill>
          <a:ln w="12700">
            <a:solidFill>
              <a:srgbClr val="3A3E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26974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data from e-Sakshya / CCTNS; FSL LIMS hand-off; PostgreSQL + SSO for state-wide scale.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06840" y="1920240"/>
            <a:ext cx="2560320" cy="3017520"/>
          </a:xfrm>
          <a:prstGeom prst="rect">
            <a:avLst/>
          </a:prstGeom>
          <a:solidFill>
            <a:srgbClr val="22262E"/>
          </a:solidFill>
          <a:ln w="12700">
            <a:solidFill>
              <a:srgbClr val="3A3E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89720" y="26974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3161 timestamps on the ledger head for court-grade custody proofs.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 docker compose up --build → http://127.0.0.1:8000 · Bob guide: docs/bob-integration.md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Pramaan · Pramaan means "proof"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Pramaan — Team Pramaan</dc:title>
  <dc:subject>PptxGenJS Presentation</dc:subject>
  <dc:creator>PptxGenJS</dc:creator>
  <cp:lastModifiedBy>PptxGenJS</cp:lastModifiedBy>
  <cp:revision>1</cp:revision>
  <dcterms:created xsi:type="dcterms:W3CDTF">2026-09-28T06:48:09Z</dcterms:created>
  <dcterms:modified xsi:type="dcterms:W3CDTF">2026-09-28T06:48:09Z</dcterms:modified>
</cp:coreProperties>
</file>